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0"/>
            <a:ext cx="12188952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Analyse de Biais dans 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2E86AB"/>
                </a:solidFill>
              </a:rPr>
              <a:t>Classification NLP Médicale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0C8E0"/>
                </a:solidFill>
              </a:rPr>
              <a:t>De la Détection à la Mitigation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246120"/>
            <a:ext cx="548640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8C8"/>
                </a:solidFill>
              </a:rPr>
              <a:t>Dataset Medical Bios (coastalcph)  •  5 professions médicales  •  Attribut protégé : Genre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7763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90A8"/>
                </a:solidFill>
              </a:rPr>
              <a:t>2026  •  Antoine Dalle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709160"/>
            <a:ext cx="201168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736592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Phase 1
Baseline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4709160"/>
            <a:ext cx="2011680" cy="822960"/>
          </a:xfrm>
          <a:prstGeom prst="rect">
            <a:avLst/>
          </a:prstGeom>
          <a:solidFill>
            <a:srgbClr val="07B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4736592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Phase 2
Embeddings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4709160"/>
            <a:ext cx="2011680" cy="8229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4736592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Phase 3
Détection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4709160"/>
            <a:ext cx="2011680" cy="822960"/>
          </a:xfrm>
          <a:prstGeom prst="rect">
            <a:avLst/>
          </a:prstGeom>
          <a:solidFill>
            <a:srgbClr val="F24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4736592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Phase 4
Mitigation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4709160"/>
            <a:ext cx="2011680" cy="82296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6920" y="4736592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Phase 5
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7088"/>
                </a:solidFill>
              </a:rPr>
              <a:t>14 notebooks  •  utils/fairness_metrics.py  •  5 dossiers de résultats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🏥 Contexte et Enjeux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657A"/>
                </a:solidFill>
              </a:rPr>
              <a:t>Pourquoi la fairness en NLP médical est-elle critique ?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39496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86AB"/>
                </a:solidFill>
              </a:rPr>
              <a:t>⚕ Problématique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</a:rPr>
              <a:t>▸  Les biais de genre dans les données d'entraînement se propagent aux modèles prédictifs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</a:rPr>
              <a:t>▸  Impact direct sur les décisions cliniques et l'accès aux spécialités médicales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</a:rPr>
              <a:t>▸  Les métriques d'accuracy globale masquent les inégalités entre groupes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2E"/>
                </a:solidFill>
              </a:rPr>
              <a:t>▸  Réglementation croissante : EU AI Act impose la transparence algorithmique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417320"/>
            <a:ext cx="594360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7B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50876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7B78D"/>
                </a:solidFill>
              </a:rPr>
              <a:t>📊 Dataset : Medical Bios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011680"/>
            <a:ext cx="56692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📐 Cadre Théorique — Métriques de Fairness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657A"/>
                </a:solidFill>
              </a:rPr>
              <a:t>Trois définitions formelles de l'équité algorithmique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1161288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201168" cy="15087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86AB"/>
                </a:solidFill>
              </a:rPr>
              <a:t>∆DP — Demographic Parity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928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ΔDP = max_c |P(Ŷ=c | A=Male) − P(Ŷ=c | A=Female)|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77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657A"/>
                </a:solidFill>
              </a:rPr>
              <a:t>Le modèle doit prédire chaque profession au même taux pour les deux genres.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108960"/>
            <a:ext cx="1161288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07B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108960"/>
            <a:ext cx="201168" cy="1508760"/>
          </a:xfrm>
          <a:prstGeom prst="rect">
            <a:avLst/>
          </a:prstGeom>
          <a:solidFill>
            <a:srgbClr val="07B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7B78D"/>
                </a:solidFill>
              </a:rPr>
              <a:t>∆EO — Equality of 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58444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ΔEO = max_c |P(Ŷ=c | Y=c, A=Male) − P(Ŷ=c | Y=c, A=Female)|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069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657A"/>
                </a:solidFill>
              </a:rPr>
              <a:t>Le taux de vrais positifs doit être égal entre les genres pour chaque profession.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800600"/>
            <a:ext cx="1161288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800600"/>
            <a:ext cx="201168" cy="1508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892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8C00"/>
                </a:solidFill>
              </a:rPr>
              <a:t>∆EqOdds — Equalized Odds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27608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ΔEqOdds = max_c max{ |TPR_M^(c) − TPR_F^(c)|, |FPR_M^(c) − FPR_F^(c)| 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607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657A"/>
                </a:solidFill>
              </a:rPr>
              <a:t>Combine TP rate et FP rate — critère le plus strict.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6400800"/>
            <a:ext cx="11612880" cy="32004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7B78D"/>
                </a:solidFill>
              </a:rPr>
              <a:t>✅  Seuil d'acceptabilité : Δ &lt; 0.10   |   🚨  Alerte déploiement : Δ &gt; 0.10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🔬 Architecture Expérimentale — 5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657A"/>
                </a:solidFill>
              </a:rPr>
              <a:t>14 notebooks • utils/fairness_metrics.py • résultats structurés par phase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2148840" cy="36576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4813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14600"/>
            <a:ext cx="1965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TF-IDF + Random Forest
99% accuracy
Biais détectés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79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5657A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33472" y="1417320"/>
            <a:ext cx="2148840" cy="3657600"/>
          </a:xfrm>
          <a:prstGeom prst="rect">
            <a:avLst/>
          </a:prstGeom>
          <a:solidFill>
            <a:srgbClr val="07B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06624" y="14813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192024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EMBEDDINGS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912" y="2514600"/>
            <a:ext cx="1965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BERT / BioBERT
ClinicalBERT / RoBERTa
Comparaison fairness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2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5657A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92624" y="1417320"/>
            <a:ext cx="2148840" cy="36576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65776" y="14813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4064" y="192024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DÉTECTION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4064" y="2514600"/>
            <a:ext cx="1965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Feature importance
Distribution analysis
ROC / Bootstrap CI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87184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5657A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1776" y="1417320"/>
            <a:ext cx="2148840" cy="3657600"/>
          </a:xfrm>
          <a:prstGeom prst="rect">
            <a:avLst/>
          </a:prstGeom>
          <a:solidFill>
            <a:srgbClr val="F24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24928" y="14813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216" y="192024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MITIGATION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3216" y="2514600"/>
            <a:ext cx="1965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Pre-processing (SMOTE)
In-processing (MLP + λ)
Post-processing (seuils)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46336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5657A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10928" y="1417320"/>
            <a:ext cx="2148840" cy="365760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14813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2368" y="192024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02368" y="2514600"/>
            <a:ext cx="1965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5-Fold CV
Sensibilité taille
Rapport final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530352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657A"/>
                </a:solidFill>
              </a:rPr>
              <a:t>📓 Notebooks : 01→14   |   🛠 utils/fairness_metrics.py   |   📁 results/phase1-5/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120640"/>
            <a:ext cx="11612880" cy="36576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Phase 1 — Baseline TF-IDF + Random Forest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657A"/>
                </a:solidFill>
              </a:rPr>
              <a:t>Résultats initiaux avant toute technique de mitigation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27432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7B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7B78D"/>
                </a:solidFill>
              </a:rPr>
              <a:t>99.0%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31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57A"/>
                </a:solidFill>
              </a:rPr>
              <a:t>Accuracy globale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417320"/>
            <a:ext cx="27432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F24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5544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24236"/>
                </a:solidFill>
              </a:rPr>
              <a:t>0.180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331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57A"/>
                </a:solidFill>
              </a:rPr>
              <a:t>∆DP (élevé 🚨)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417320"/>
            <a:ext cx="27432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7B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5544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7B78D"/>
                </a:solidFill>
              </a:rPr>
              <a:t>0.020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331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57A"/>
                </a:solidFill>
              </a:rPr>
              <a:t>∆EO (acceptable ✅)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1417320"/>
            <a:ext cx="27432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5544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8C00"/>
                </a:solidFill>
              </a:rPr>
              <a:t>80%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331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57A"/>
                </a:solidFill>
              </a:rPr>
              <a:t>Score Fairness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063240"/>
            <a:ext cx="6217920" cy="34747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675120" y="3063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86AB"/>
                </a:solidFill>
              </a:rPr>
              <a:t>🔍 Observations clés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410712"/>
            <a:ext cx="521208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▸  Dentist : favorise les hommes de +15.9% (∆DP=0.159)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▸  Nurse   : favorise les femmes de +28.9% (∆DP=0.289) 🚨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▸  Surgeon : écart fairness notable (∆DP=0.112)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▸  Accuracy élevée masque les inégalités sous-jacentes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▸  ⚠️  Modèle modérément biaisé → mitigation recommandée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Phase 2 — Comparaison des Modèles d'Embedding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657A"/>
                </a:solidFill>
              </a:rPr>
              <a:t>Même RF classifier — seul l'embedding change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08760"/>
            <a:ext cx="8869680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26880" y="1508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7B78D"/>
                </a:solidFill>
              </a:rPr>
              <a:t>💡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1856231"/>
            <a:ext cx="2651760" cy="3493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1A1A2E"/>
                </a:solidFill>
              </a:rPr>
              <a:t>▸  BioBERT réduit ∆DP de 21% vs TF-IDF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A1A2E"/>
                </a:solidFill>
              </a:rPr>
              <a:t>▸  Spécialisation médicale ↔ moins de biais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A1A2E"/>
                </a:solidFill>
              </a:rPr>
              <a:t>▸  Tous les modèles respectent ∆EO &lt; 0.10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A1A2E"/>
                </a:solidFill>
              </a:rPr>
              <a:t>▸  → Meilleure config : BioBERT + RF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4864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7B78D"/>
                </a:solidFill>
              </a:rPr>
              <a:t>⭐ BioBERT sélectionné pour la suite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440680"/>
            <a:ext cx="11612880" cy="36576"/>
          </a:xfrm>
          <a:prstGeom prst="rect">
            <a:avLst/>
          </a:prstGeom>
          <a:solidFill>
            <a:srgbClr val="07B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Phase 3 — Détection Approfondie des Biais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657A"/>
                </a:solidFill>
              </a:rPr>
              <a:t>Feature importance, distributions, ROC par genre, bootstrap CI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886968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26880" y="1463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8C00"/>
                </a:solidFill>
              </a:rPr>
              <a:t>🔎 Résultats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1810512"/>
            <a:ext cx="2651760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1A1A2E"/>
                </a:solidFill>
              </a:rPr>
              <a:t>▸  Gap max : Surgeon Female vs Male (∆acc=2.4%) 🚨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A1A2E"/>
                </a:solidFill>
              </a:rPr>
              <a:t>▸  Nurse    : Female surperforme Male (+1.6%)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A1A2E"/>
                </a:solidFill>
              </a:rPr>
              <a:t>▸  ∆DP robuste (CI entièrement &gt; 0.10) → biais statistiquement significatif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A1A2E"/>
                </a:solidFill>
              </a:rPr>
              <a:t>▸  768 dims analysées : 34/50 top features corrélées au genre (p&lt;0.05)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Phase 4 — Techniques de Mitigation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657A"/>
                </a:solidFill>
              </a:rPr>
              <a:t>Trois approches complémentaires pour réduire les biais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3749039" cy="5166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3749039" cy="685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5087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🔵  Pre-processing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194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Agit sur les données
avant entraînement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74320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→  SMOTE sur les embeddings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→  Undersampling groupes majoritaires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→  Class weighting (genre × prof)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→  Data augmentation (bruit gaussien)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417320"/>
            <a:ext cx="3749039" cy="51663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59" y="1417320"/>
            <a:ext cx="3749039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5087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🟠  In-processing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194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Contrainte fairness
dans la fonction de perte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74320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→  MLP PyTorch custom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→  Loss = L_CE + λ × L_fairness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→  λ ∈ {0, 0.01, 0.1, 0.5, 1.0}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→  Critères : ∆DP et ∆EO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417320"/>
            <a:ext cx="3749039" cy="5166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7B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417320"/>
            <a:ext cx="3749039" cy="685800"/>
          </a:xfrm>
          <a:prstGeom prst="rect">
            <a:avLst/>
          </a:prstGeom>
          <a:solidFill>
            <a:srgbClr val="07B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5087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🟢  Post-processing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194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A"/>
                </a:solidFill>
              </a:rPr>
              <a:t>Correction après
la prédiction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74320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→  Seuils différenciés par genre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→  Optimisation scipy (L-BFGS-B)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→  Hardt et al. — grid search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→  Par classe × genre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6492240"/>
            <a:ext cx="11612880" cy="29260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19672"/>
            <a:ext cx="11064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8C00"/>
                </a:solidFill>
              </a:rPr>
              <a:t>In-processing loss :  L = L_CE + λ · L_fairness   (λ contrôle le trade-off accuracy/fairness)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Phase 4 — Résultats Comparatifs de Mitigation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657A"/>
                </a:solidFill>
              </a:rPr>
              <a:t>Accuracy vs Fairness : quel est le meilleur ROI ?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08760"/>
            <a:ext cx="8412480" cy="4114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823960" y="1508760"/>
            <a:ext cx="192024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0536" y="1554480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Technique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44200" y="1508760"/>
            <a:ext cx="73152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0776" y="1554480"/>
            <a:ext cx="658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Acc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75720" y="1508760"/>
            <a:ext cx="73152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12296" y="1554480"/>
            <a:ext cx="658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∆DP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207240" y="1508760"/>
            <a:ext cx="73152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243816" y="1554480"/>
            <a:ext cx="658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∆EO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938760" y="1508760"/>
            <a:ext cx="77724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75336" y="1554480"/>
            <a:ext cx="704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ΔAcc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0" y="1508760"/>
            <a:ext cx="77724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52576" y="1554480"/>
            <a:ext cx="704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Δ∆DP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23960" y="1920240"/>
            <a:ext cx="192024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0536" y="1993392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Baseline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744200" y="1920240"/>
            <a:ext cx="73152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0776" y="1993392"/>
            <a:ext cx="658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0.990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75720" y="1920240"/>
            <a:ext cx="73152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512296" y="1993392"/>
            <a:ext cx="658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0.180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207240" y="1920240"/>
            <a:ext cx="73152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243816" y="1993392"/>
            <a:ext cx="658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0.020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938760" y="1920240"/>
            <a:ext cx="77724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975336" y="1993392"/>
            <a:ext cx="704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0" y="1920240"/>
            <a:ext cx="77724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52576" y="1993392"/>
            <a:ext cx="704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23960" y="2423160"/>
            <a:ext cx="192024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0536" y="2496312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Pre-proc.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744200" y="2423160"/>
            <a:ext cx="73152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0776" y="2496312"/>
            <a:ext cx="658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0.975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75720" y="2423160"/>
            <a:ext cx="73152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512296" y="2496312"/>
            <a:ext cx="658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0.095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207240" y="2423160"/>
            <a:ext cx="73152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243816" y="2496312"/>
            <a:ext cx="658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0.018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938760" y="2423160"/>
            <a:ext cx="77724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975336" y="2496312"/>
            <a:ext cx="704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24236"/>
                </a:solidFill>
              </a:rPr>
              <a:t>-1.5%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00" y="2423160"/>
            <a:ext cx="77724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752576" y="2496312"/>
            <a:ext cx="704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-47%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23960" y="2926080"/>
            <a:ext cx="192024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60536" y="2999232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In-proc.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744200" y="2926080"/>
            <a:ext cx="73152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780776" y="2999232"/>
            <a:ext cx="658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0.975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475720" y="2926080"/>
            <a:ext cx="73152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512296" y="2999232"/>
            <a:ext cx="658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0.161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207240" y="2926080"/>
            <a:ext cx="73152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243816" y="2999232"/>
            <a:ext cx="658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0.025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938760" y="2926080"/>
            <a:ext cx="77724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975336" y="2999232"/>
            <a:ext cx="704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24236"/>
                </a:solidFill>
              </a:rPr>
              <a:t>-1.5%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3716000" y="2926080"/>
            <a:ext cx="77724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752576" y="2999232"/>
            <a:ext cx="704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-10%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23960" y="3429000"/>
            <a:ext cx="1920240" cy="475488"/>
          </a:xfrm>
          <a:prstGeom prst="rect">
            <a:avLst/>
          </a:prstGeom>
          <a:solidFill>
            <a:srgbClr val="E8F8F5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60536" y="3502152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</a:rPr>
              <a:t>Post-proc. ⭐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744200" y="3429000"/>
            <a:ext cx="731520" cy="475488"/>
          </a:xfrm>
          <a:prstGeom prst="rect">
            <a:avLst/>
          </a:prstGeom>
          <a:solidFill>
            <a:srgbClr val="E8F8F5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780776" y="3502152"/>
            <a:ext cx="658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</a:rPr>
              <a:t>0.988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475720" y="3429000"/>
            <a:ext cx="731520" cy="475488"/>
          </a:xfrm>
          <a:prstGeom prst="rect">
            <a:avLst/>
          </a:prstGeom>
          <a:solidFill>
            <a:srgbClr val="E8F8F5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512296" y="3502152"/>
            <a:ext cx="658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</a:rPr>
              <a:t>0.045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2207240" y="3429000"/>
            <a:ext cx="731520" cy="475488"/>
          </a:xfrm>
          <a:prstGeom prst="rect">
            <a:avLst/>
          </a:prstGeom>
          <a:solidFill>
            <a:srgbClr val="E8F8F5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243816" y="3502152"/>
            <a:ext cx="658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</a:rPr>
              <a:t>0.012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2938760" y="3429000"/>
            <a:ext cx="777240" cy="475488"/>
          </a:xfrm>
          <a:prstGeom prst="rect">
            <a:avLst/>
          </a:prstGeom>
          <a:solidFill>
            <a:srgbClr val="E8F8F5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2975336" y="3502152"/>
            <a:ext cx="704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24236"/>
                </a:solidFill>
              </a:rPr>
              <a:t>-0.2%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3716000" y="3429000"/>
            <a:ext cx="777240" cy="475488"/>
          </a:xfrm>
          <a:prstGeom prst="rect">
            <a:avLst/>
          </a:prstGeom>
          <a:solidFill>
            <a:srgbClr val="E8F8F5"/>
          </a:solidFill>
          <a:ln w="635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752576" y="3502152"/>
            <a:ext cx="704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7B78D"/>
                </a:solidFill>
              </a:rPr>
              <a:t>-75%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23960" y="39776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7B78D"/>
                </a:solidFill>
              </a:rPr>
              <a:t>⭐ Post-processing : −0.2% accuracy, −75% biais → meilleur ROI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Phase 5 — Validation et Robustesse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657A"/>
                </a:solidFill>
              </a:rPr>
              <a:t>5-Fold CV • sensibilité à la taille • stabilité temporelle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8869680" cy="3657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326880" y="1508760"/>
            <a:ext cx="26517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7B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0" y="15819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7B78D"/>
                </a:solidFill>
              </a:rP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1600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7B78D"/>
                </a:solidFill>
              </a:rPr>
              <a:t>Accuracy stable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2011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± 0.003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2606039"/>
            <a:ext cx="26517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7B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0" y="267919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7B78D"/>
                </a:solidFill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26974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7B78D"/>
                </a:solidFill>
              </a:rPr>
              <a:t>∆DP stable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310895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± 0.004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0" y="3703320"/>
            <a:ext cx="26517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7B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3776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7B78D"/>
                </a:solidFill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37947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7B78D"/>
                </a:solidFill>
              </a:rPr>
              <a:t>∆EO 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4206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± 0.002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0" y="4800600"/>
            <a:ext cx="26517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48737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8C00"/>
                </a:solidFill>
              </a:rPr>
              <a:t>⚠️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4892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8C00"/>
                </a:solidFill>
              </a:rPr>
              <a:t>Seuil critique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5303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N &lt; 1000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52578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7B78D"/>
                </a:solidFill>
              </a:rPr>
              <a:t>→ Résultats reproductibles et statistiquement robustes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🏆 Configuration Optimale Recommandée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657A"/>
                </a:solidFill>
              </a:rPr>
              <a:t>Pour un déploiement en contexte clinique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2743200" cy="25603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Embeddings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BioBERT
(dmis-lab/biobert-v1.1)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417320"/>
            <a:ext cx="2743200" cy="2560320"/>
          </a:xfrm>
          <a:prstGeom prst="rect">
            <a:avLst/>
          </a:prstGeom>
          <a:solidFill>
            <a:srgbClr val="07B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508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03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Classifier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6060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Random Forest
n=100, depth=20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417320"/>
            <a:ext cx="2743200" cy="2560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508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🎛️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103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Post-proc.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6060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Seuils différenciés
par genre × profession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417320"/>
            <a:ext cx="2743200" cy="2560320"/>
          </a:xfrm>
          <a:prstGeom prst="rect">
            <a:avLst/>
          </a:prstGeom>
          <a:solidFill>
            <a:srgbClr val="F24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508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103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Monitoring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6060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Alertes si
mean_gap &gt; 0.05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5657A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5657A"/>
                </a:solidFill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5657A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206240"/>
            <a:ext cx="11430000" cy="2377440"/>
          </a:xfrm>
          <a:prstGeom prst="rect">
            <a:avLst/>
          </a:prstGeom>
          <a:solidFill>
            <a:srgbClr val="F0F7FF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297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86AB"/>
                </a:solidFill>
              </a:rPr>
              <a:t>📊 Performances Finales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754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57A"/>
                </a:solidFill>
              </a:rPr>
              <a:t>Accuracy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120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7B78D"/>
                </a:solidFill>
              </a:rPr>
              <a:t>98.8%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4754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57A"/>
                </a:solidFill>
              </a:rPr>
              <a:t>∆DP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5120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7B78D"/>
                </a:solidFill>
              </a:rPr>
              <a:t>0.045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754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57A"/>
                </a:solidFill>
              </a:rPr>
              <a:t>∆EO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5120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7B78D"/>
                </a:solidFill>
              </a:rPr>
              <a:t>0.012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754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57A"/>
                </a:solidFill>
              </a:rPr>
              <a:t>Mean Gap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5120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7B78D"/>
                </a:solidFill>
              </a:rPr>
              <a:t>0.028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754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57A"/>
                </a:solidFill>
              </a:rPr>
              <a:t>Score Composite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5120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7B78D"/>
                </a:solidFill>
              </a:rPr>
              <a:t>0.960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4754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57A"/>
                </a:solidFill>
              </a:rPr>
              <a:t>Stabilité CV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5120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7B78D"/>
                </a:solidFill>
              </a:rPr>
              <a:t>± 0.003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7B78D"/>
                </a:solidFill>
              </a:rPr>
              <a:t>✅ Toutes les métriques de fairness en-dessous du seuil d'acceptabilité (Δ &lt; 0.10)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⚠️ Limites et Considérations Éthiques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657A"/>
                </a:solidFill>
              </a:rPr>
              <a:t>Transparence sur les contraintes du projet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116128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24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164592" cy="914400"/>
          </a:xfrm>
          <a:prstGeom prst="rect">
            <a:avLst/>
          </a:prstGeom>
          <a:solidFill>
            <a:srgbClr val="F24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4236"/>
                </a:solidFill>
              </a:rPr>
              <a:t>🔴 Genre binaire uniquement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657A"/>
                </a:solidFill>
              </a:rPr>
              <a:t>L'analyse se limite à Female/Male. Les personnes non-binaires sont exclues. Extension nécessaire.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487168"/>
            <a:ext cx="116128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24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487168"/>
            <a:ext cx="164592" cy="914400"/>
          </a:xfrm>
          <a:prstGeom prst="rect">
            <a:avLst/>
          </a:prstGeom>
          <a:solidFill>
            <a:srgbClr val="F24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5603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4236"/>
                </a:solidFill>
              </a:rPr>
              <a:t>🔴 Dataset biaisé à la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62656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657A"/>
                </a:solidFill>
              </a:rPr>
              <a:t>Medical Bios reflète les inégalités historiques de représentation dans les biographies en ligne.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511296"/>
            <a:ext cx="116128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511296"/>
            <a:ext cx="164592" cy="914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844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8C00"/>
                </a:solidFill>
              </a:rPr>
              <a:t>🟠 Seuils différenciés — controverse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86784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657A"/>
                </a:solidFill>
              </a:rPr>
              <a:t>L'usage de seuils distincts par genre est légalement et éthiquement controversé (EU AI Act).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535424"/>
            <a:ext cx="116128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535424"/>
            <a:ext cx="164592" cy="914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60857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8C00"/>
                </a:solidFill>
              </a:rPr>
              <a:t>🟠 Intersectionnalité partielle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1091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657A"/>
                </a:solidFill>
              </a:rPr>
              <a:t>Seul Genre × Profession est analysé. Âge, ethnie, région géographique non disponibles.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559552"/>
            <a:ext cx="116128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7B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5559552"/>
            <a:ext cx="164592" cy="914400"/>
          </a:xfrm>
          <a:prstGeom prst="rect">
            <a:avLst/>
          </a:prstGeom>
          <a:solidFill>
            <a:srgbClr val="07B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63270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7B78D"/>
                </a:solidFill>
              </a:rPr>
              <a:t>🟢 Reproductibilité assurée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03504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657A"/>
                </a:solidFill>
              </a:rPr>
              <a:t>5-Fold CV + bootstrap CI valident la robustesse. Tous les résultats sont archivés.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🏥 Recommandations pour Déploiement Clinique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657A"/>
                </a:solidFill>
              </a:rPr>
              <a:t>Guidelines pratiques pour un usage responsable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11612880" cy="1408176"/>
          </a:xfrm>
          <a:prstGeom prst="rect">
            <a:avLst/>
          </a:prstGeom>
          <a:solidFill>
            <a:srgbClr val="FFFFFF"/>
          </a:solidFill>
          <a:ln w="19050">
            <a:solidFill>
              <a:srgbClr val="F24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1828800" cy="1408176"/>
          </a:xfrm>
          <a:prstGeom prst="rect">
            <a:avLst/>
          </a:prstGeom>
          <a:solidFill>
            <a:srgbClr val="F24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9385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PRIORITÉ HAUTE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490472"/>
            <a:ext cx="9509760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✓  Utiliser BioBERT + RF + seuils différenciés comme modèle de production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✓  Appliquer les seuils de optimal_thresholds.json avant tout déploiement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935224"/>
            <a:ext cx="11612880" cy="1883664"/>
          </a:xfrm>
          <a:prstGeom prst="rect">
            <a:avLst/>
          </a:prstGeom>
          <a:solidFill>
            <a:srgbClr val="FFFFFF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935224"/>
            <a:ext cx="1828800" cy="18836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694176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3008376"/>
            <a:ext cx="9509760" cy="174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✓  Recalculer ∆DP et ∆EO mensuellement sur les nouvelles données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✓  Déclencher une alerte si mean_gap &gt; 0.05 — réentraîner le modèle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✓  Surveiller en priorité : nurse et surgeon (biais historiquement élevés)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928616"/>
            <a:ext cx="11612880" cy="1883664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928616"/>
            <a:ext cx="1828800" cy="18836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568756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GOUVERNANCE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5001768"/>
            <a:ext cx="9509760" cy="174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✓  Documenter les seuils utilisés par genre dans le dossier de suivi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✓  Informer les praticiens des limitations connues du système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✓  Constituer un comité éthique avant tout déploiement en production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6922008"/>
            <a:ext cx="11612880" cy="1408176"/>
          </a:xfrm>
          <a:prstGeom prst="rect">
            <a:avLst/>
          </a:prstGeom>
          <a:solidFill>
            <a:srgbClr val="FFFFFF"/>
          </a:solidFill>
          <a:ln w="19050">
            <a:solidFill>
              <a:srgbClr val="07B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6922008"/>
            <a:ext cx="1828800" cy="1408176"/>
          </a:xfrm>
          <a:prstGeom prst="rect">
            <a:avLst/>
          </a:prstGeom>
          <a:solidFill>
            <a:srgbClr val="07B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7443216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DONNÉES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6995160"/>
            <a:ext cx="9509760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✓  Maintenir un ratio Female/Male équilibré par profession (min 50/50)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</a:rPr>
              <a:t>✓  Seuil critique : N &lt; 1000 exemples → les gaps de fairness augmentent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🚀 Contributions et Recherches Futures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657A"/>
                </a:solidFill>
              </a:rPr>
              <a:t>Ce que ce projet apporte et ce qui reste à explorer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486400" cy="5166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5486400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9047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📚 Contributions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AB"/>
                </a:solidFill>
              </a:rPr>
              <a:t>Méthodologie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0116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Pipeline complet détection → mitigation sur données NLP médicales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97480"/>
            <a:ext cx="5120640" cy="18288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529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AB"/>
                </a:solidFill>
              </a:rPr>
              <a:t>Empirique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85292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BioBERT réduit les biais de 21% vs modèles génériques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38728"/>
            <a:ext cx="5120640" cy="18288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69417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AB"/>
                </a:solidFill>
              </a:rPr>
              <a:t>Pratique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69417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Post-processing = meilleur ROI fairness/accuracy (-0.2% acc, -75% biais)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79976"/>
            <a:ext cx="5120640" cy="18288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53542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AB"/>
                </a:solidFill>
              </a:rPr>
              <a:t>Outillage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453542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Module utils/fairness_metrics.py réutilisable (6 fonctions)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221224"/>
            <a:ext cx="5120640" cy="18288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3766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AB"/>
                </a:solidFill>
              </a:rPr>
              <a:t>Robustesse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53766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Validation complète : CV, bootstrap CI, sensibilité taille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1417320"/>
            <a:ext cx="5852160" cy="5166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7B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35040" y="1417320"/>
            <a:ext cx="5852160" cy="502920"/>
          </a:xfrm>
          <a:prstGeom prst="rect">
            <a:avLst/>
          </a:prstGeom>
          <a:solidFill>
            <a:srgbClr val="07B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149047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🔭 Recherches Futures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2057400"/>
            <a:ext cx="256032" cy="256032"/>
          </a:xfrm>
          <a:prstGeom prst="rect">
            <a:avLst/>
          </a:prstGeom>
          <a:solidFill>
            <a:srgbClr val="07B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81344" y="2066544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01168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Fine-tuning adversarial de BioBERT
  (débiasage dans l'espace embedding)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2926080"/>
            <a:ext cx="256032" cy="256032"/>
          </a:xfrm>
          <a:prstGeom prst="rect">
            <a:avLst/>
          </a:prstGeom>
          <a:solidFill>
            <a:srgbClr val="07B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81344" y="2935224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288036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Extension multi-attributs : âge, ethnie
  (intersectionnalité complète)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3794759"/>
            <a:ext cx="256032" cy="256032"/>
          </a:xfrm>
          <a:prstGeom prst="rect">
            <a:avLst/>
          </a:prstGeom>
          <a:solidFill>
            <a:srgbClr val="07B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81344" y="3803903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3749039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Individual Fairness &amp; Counterfactual
  Fairness (traitement équitable individuel)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4663440"/>
            <a:ext cx="256032" cy="256032"/>
          </a:xfrm>
          <a:prstGeom prst="rect">
            <a:avLst/>
          </a:prstGeom>
          <a:solidFill>
            <a:srgbClr val="07B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81344" y="4672583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461772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Déploiement MLOps avec monitoring
  automatique des métriques fairness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5532120"/>
            <a:ext cx="256032" cy="256032"/>
          </a:xfrm>
          <a:prstGeom prst="rect">
            <a:avLst/>
          </a:prstGeom>
          <a:solidFill>
            <a:srgbClr val="07B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81344" y="5541264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548640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Étude utilisateurs praticiens
  (acceptabilité des seuils différenciés)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E86AB"/>
                </a:solidFill>
              </a:rPr>
              <a:t>✅ 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9144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Les biais de genre sont détectables et quantifiables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C0D8"/>
                </a:solidFill>
              </a:rPr>
              <a:t>∆DP=0.180 sur le baseline — statistiquement significatif (p&lt;0.001)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06040"/>
            <a:ext cx="9144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La spécialisation médicale des embeddings réduit les biais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449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C0D8"/>
                </a:solidFill>
              </a:rPr>
              <a:t>BioBERT : −21% ∆DP vs TF-IDF, sans perte d'accuracy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794760"/>
            <a:ext cx="9144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947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Le post-processing offre le meilleur compromis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336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C0D8"/>
                </a:solidFill>
              </a:rPr>
              <a:t>−75% biais, −0.2% accuracy — résultats stables en 5-Fold CV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983480"/>
            <a:ext cx="9144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983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Un pipeline éthique complet est possible et nécessaire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2239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C0D8"/>
                </a:solidFill>
              </a:rPr>
              <a:t>14 notebooks, monitoring continu, recommandations cliniques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Medical Bios dataset  •  5 professions  •  14 notebooks  •  BioBERT + RF + Post-processing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